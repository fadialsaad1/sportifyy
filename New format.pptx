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25603200" cy="3657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E7F3F4"/>
          </a:solidFill>
        </a:fill>
      </a:tcStyle>
    </a:wholeTbl>
    <a:band2H>
      <a:tcTxStyle b="def" i="def"/>
      <a:tcStyle>
        <a:tcBdr/>
        <a:fill>
          <a:solidFill>
            <a:srgbClr val="F3F9FA"/>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b="def" i="def"/>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CCCD9"/>
          </a:solidFill>
        </a:fill>
      </a:tcStyle>
    </a:wholeTbl>
    <a:band2H>
      <a:tcTxStyle b="def" i="def"/>
      <a:tcStyle>
        <a:tcBdr/>
        <a:fill>
          <a:solidFill>
            <a:srgbClr val="E7E7ED"/>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chemeClr val="accent3">
              <a:lumOff val="44000"/>
            </a:schemeClr>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3200400" y="5986462"/>
            <a:ext cx="19202400" cy="12733338"/>
          </a:xfrm>
          <a:prstGeom prst="rect">
            <a:avLst/>
          </a:prstGeom>
        </p:spPr>
        <p:txBody>
          <a:bodyPr anchor="b"/>
          <a:lstStyle>
            <a:lvl1pPr>
              <a:defRPr sz="6000"/>
            </a:lvl1pPr>
          </a:lstStyle>
          <a:p>
            <a:pPr/>
            <a:r>
              <a:t>Title Text</a:t>
            </a:r>
          </a:p>
        </p:txBody>
      </p:sp>
      <p:sp>
        <p:nvSpPr>
          <p:cNvPr id="12" name="Body Level One…"/>
          <p:cNvSpPr txBox="1"/>
          <p:nvPr>
            <p:ph type="body" sz="quarter" idx="1"/>
          </p:nvPr>
        </p:nvSpPr>
        <p:spPr>
          <a:xfrm>
            <a:off x="3200400" y="19210337"/>
            <a:ext cx="19202400" cy="8831263"/>
          </a:xfrm>
          <a:prstGeom prst="rect">
            <a:avLst/>
          </a:prstGeom>
        </p:spPr>
        <p:txBody>
          <a:bodyPr/>
          <a:lstStyle>
            <a:lvl1pPr marL="0" indent="0" algn="ctr">
              <a:spcBef>
                <a:spcPts val="500"/>
              </a:spcBef>
              <a:buSzTx/>
              <a:buNone/>
              <a:defRPr sz="2400"/>
            </a:lvl1pPr>
            <a:lvl2pPr marL="0" indent="457200" algn="ctr">
              <a:spcBef>
                <a:spcPts val="500"/>
              </a:spcBef>
              <a:buSzTx/>
              <a:buNone/>
              <a:defRPr sz="2400"/>
            </a:lvl2pPr>
            <a:lvl3pPr marL="0" indent="914400" algn="ctr">
              <a:spcBef>
                <a:spcPts val="500"/>
              </a:spcBef>
              <a:buSzTx/>
              <a:buNone/>
              <a:defRPr sz="2400"/>
            </a:lvl3pPr>
            <a:lvl4pPr marL="0" indent="1371600" algn="ctr">
              <a:spcBef>
                <a:spcPts val="500"/>
              </a:spcBef>
              <a:buSzTx/>
              <a:buNone/>
              <a:defRPr sz="2400"/>
            </a:lvl4pPr>
            <a:lvl5pPr marL="0" indent="1828800" algn="ctr">
              <a:spcBef>
                <a:spcPts val="500"/>
              </a:spcBef>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1746250" y="9118600"/>
            <a:ext cx="22083713" cy="15214600"/>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1746250" y="24477662"/>
            <a:ext cx="22083713" cy="8001001"/>
          </a:xfrm>
          <a:prstGeom prst="rect">
            <a:avLst/>
          </a:prstGeom>
        </p:spPr>
        <p:txBody>
          <a:bodyPr/>
          <a:lstStyle>
            <a:lvl1pPr marL="0" indent="0">
              <a:spcBef>
                <a:spcPts val="500"/>
              </a:spcBef>
              <a:buSzTx/>
              <a:buNone/>
              <a:defRPr sz="2400"/>
            </a:lvl1pPr>
            <a:lvl2pPr marL="0" indent="457200">
              <a:spcBef>
                <a:spcPts val="500"/>
              </a:spcBef>
              <a:buSzTx/>
              <a:buNone/>
              <a:defRPr sz="2400"/>
            </a:lvl2pPr>
            <a:lvl3pPr marL="0" indent="914400">
              <a:spcBef>
                <a:spcPts val="500"/>
              </a:spcBef>
              <a:buSzTx/>
              <a:buNone/>
              <a:defRPr sz="2400"/>
            </a:lvl3pPr>
            <a:lvl4pPr marL="0" indent="1371600">
              <a:spcBef>
                <a:spcPts val="500"/>
              </a:spcBef>
              <a:buSzTx/>
              <a:buNone/>
              <a:defRPr sz="2400"/>
            </a:lvl4pPr>
            <a:lvl5pPr marL="0" indent="1828800">
              <a:spcBef>
                <a:spcPts val="500"/>
              </a:spcBef>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1279525" y="8534400"/>
            <a:ext cx="11445875" cy="241379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1763713" y="1947863"/>
            <a:ext cx="22082126" cy="7069137"/>
          </a:xfrm>
          <a:prstGeom prst="rect">
            <a:avLst/>
          </a:prstGeom>
        </p:spPr>
        <p:txBody>
          <a:bodyPr/>
          <a:lstStyle/>
          <a:p>
            <a:pPr/>
            <a:r>
              <a:t>Title Text</a:t>
            </a:r>
          </a:p>
        </p:txBody>
      </p:sp>
      <p:sp>
        <p:nvSpPr>
          <p:cNvPr id="48" name="Body Level One…"/>
          <p:cNvSpPr txBox="1"/>
          <p:nvPr>
            <p:ph type="body" sz="quarter" idx="1"/>
          </p:nvPr>
        </p:nvSpPr>
        <p:spPr>
          <a:xfrm>
            <a:off x="1763713" y="8966200"/>
            <a:ext cx="10831512" cy="4394200"/>
          </a:xfrm>
          <a:prstGeom prst="rect">
            <a:avLst/>
          </a:prstGeom>
        </p:spPr>
        <p:txBody>
          <a:bodyPr anchor="b"/>
          <a:lstStyle>
            <a:lvl1pPr marL="0" indent="0">
              <a:spcBef>
                <a:spcPts val="500"/>
              </a:spcBef>
              <a:buSzTx/>
              <a:buNone/>
              <a:defRPr b="1" sz="2400"/>
            </a:lvl1pPr>
            <a:lvl2pPr marL="0" indent="457200">
              <a:spcBef>
                <a:spcPts val="500"/>
              </a:spcBef>
              <a:buSzTx/>
              <a:buNone/>
              <a:defRPr b="1" sz="2400"/>
            </a:lvl2pPr>
            <a:lvl3pPr marL="0" indent="914400">
              <a:spcBef>
                <a:spcPts val="500"/>
              </a:spcBef>
              <a:buSzTx/>
              <a:buNone/>
              <a:defRPr b="1" sz="2400"/>
            </a:lvl3pPr>
            <a:lvl4pPr marL="0" indent="1371600">
              <a:spcBef>
                <a:spcPts val="500"/>
              </a:spcBef>
              <a:buSzTx/>
              <a:buNone/>
              <a:defRPr b="1" sz="2400"/>
            </a:lvl4pPr>
            <a:lvl5pPr marL="0" indent="1828800">
              <a:spcBef>
                <a:spcPts val="500"/>
              </a:spcBef>
              <a:buSz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12961938" y="8966200"/>
            <a:ext cx="10883901" cy="4394200"/>
          </a:xfrm>
          <a:prstGeom prst="rect">
            <a:avLst/>
          </a:prstGeom>
        </p:spPr>
        <p:txBody>
          <a:bodyPr anchor="b"/>
          <a:lstStyle/>
          <a:p>
            <a:pPr marL="0" indent="0">
              <a:spcBef>
                <a:spcPts val="500"/>
              </a:spcBef>
              <a:buSz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1763713" y="2438400"/>
            <a:ext cx="8258176" cy="85344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10885488" y="5265737"/>
            <a:ext cx="12960351" cy="25993726"/>
          </a:xfrm>
          <a:prstGeom prst="rect">
            <a:avLst/>
          </a:prstGeom>
        </p:spPr>
        <p:txBody>
          <a:bodyPr/>
          <a:lstStyle>
            <a:lvl1pPr>
              <a:spcBef>
                <a:spcPts val="700"/>
              </a:spcBef>
              <a:defRPr sz="3200"/>
            </a:lvl1pPr>
            <a:lvl2pPr marL="3046413" indent="-1270000">
              <a:spcBef>
                <a:spcPts val="700"/>
              </a:spcBef>
              <a:defRPr sz="3200"/>
            </a:lvl2pPr>
            <a:lvl3pPr>
              <a:spcBef>
                <a:spcPts val="700"/>
              </a:spcBef>
              <a:defRPr sz="3200"/>
            </a:lvl3pPr>
            <a:lvl4pPr marL="6751637" indent="-1422399">
              <a:spcBef>
                <a:spcPts val="700"/>
              </a:spcBef>
              <a:defRPr sz="3200"/>
            </a:lvl4pPr>
            <a:lvl5pPr marL="8528050" indent="-1422400">
              <a:spcBef>
                <a:spcPts val="700"/>
              </a:spcBef>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1763713" y="10972799"/>
            <a:ext cx="8258176" cy="20327940"/>
          </a:xfrm>
          <a:prstGeom prst="rect">
            <a:avLst/>
          </a:prstGeom>
        </p:spPr>
        <p:txBody>
          <a:bodyPr/>
          <a:lstStyle/>
          <a:p>
            <a:pPr marL="0" indent="0">
              <a:spcBef>
                <a:spcPts val="300"/>
              </a:spcBef>
              <a:buSz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63713" y="2438400"/>
            <a:ext cx="8258176" cy="85344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10885488" y="5265737"/>
            <a:ext cx="12960351" cy="25993726"/>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1763713" y="10972800"/>
            <a:ext cx="8258176" cy="20327938"/>
          </a:xfrm>
          <a:prstGeom prst="rect">
            <a:avLst/>
          </a:prstGeom>
        </p:spPr>
        <p:txBody>
          <a:bodyPr/>
          <a:lstStyle>
            <a:lvl1pPr marL="0" indent="0">
              <a:spcBef>
                <a:spcPts val="300"/>
              </a:spcBef>
              <a:buSzTx/>
              <a:buNone/>
              <a:defRPr sz="1600"/>
            </a:lvl1pPr>
            <a:lvl2pPr marL="0" indent="457200">
              <a:spcBef>
                <a:spcPts val="300"/>
              </a:spcBef>
              <a:buSzTx/>
              <a:buNone/>
              <a:defRPr sz="1600"/>
            </a:lvl2pPr>
            <a:lvl3pPr marL="0" indent="914400">
              <a:spcBef>
                <a:spcPts val="300"/>
              </a:spcBef>
              <a:buSzTx/>
              <a:buNone/>
              <a:defRPr sz="1600"/>
            </a:lvl3pPr>
            <a:lvl4pPr marL="0" indent="1371600">
              <a:spcBef>
                <a:spcPts val="300"/>
              </a:spcBef>
              <a:buSzTx/>
              <a:buNone/>
              <a:defRPr sz="1600"/>
            </a:lvl4pPr>
            <a:lvl5pPr marL="0" indent="1828800">
              <a:spcBef>
                <a:spcPts val="300"/>
              </a:spcBef>
              <a:buSz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3">
            <a:lumOff val="44000"/>
          </a:schemeClr>
        </a:solidFill>
      </p:bgPr>
    </p:bg>
    <p:spTree>
      <p:nvGrpSpPr>
        <p:cNvPr id="1" name=""/>
        <p:cNvGrpSpPr/>
        <p:nvPr/>
      </p:nvGrpSpPr>
      <p:grpSpPr>
        <a:xfrm>
          <a:off x="0" y="0"/>
          <a:ext cx="0" cy="0"/>
          <a:chOff x="0" y="0"/>
          <a:chExt cx="0" cy="0"/>
        </a:xfrm>
      </p:grpSpPr>
      <p:sp>
        <p:nvSpPr>
          <p:cNvPr id="2" name="Title Text"/>
          <p:cNvSpPr txBox="1"/>
          <p:nvPr>
            <p:ph type="title"/>
          </p:nvPr>
        </p:nvSpPr>
        <p:spPr>
          <a:xfrm>
            <a:off x="1279525" y="1465262"/>
            <a:ext cx="23044150" cy="6096001"/>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normAutofit fontScale="100000" lnSpcReduction="0"/>
          </a:bodyPr>
          <a:lstStyle/>
          <a:p>
            <a:pPr/>
            <a:r>
              <a:t>Title Text</a:t>
            </a:r>
          </a:p>
        </p:txBody>
      </p:sp>
      <p:sp>
        <p:nvSpPr>
          <p:cNvPr id="3" name="Body Level One…"/>
          <p:cNvSpPr txBox="1"/>
          <p:nvPr>
            <p:ph type="body" idx="1"/>
          </p:nvPr>
        </p:nvSpPr>
        <p:spPr>
          <a:xfrm>
            <a:off x="1279525" y="8534400"/>
            <a:ext cx="23044150" cy="24137938"/>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23192848" y="33307337"/>
            <a:ext cx="1130828" cy="1120273"/>
          </a:xfrm>
          <a:prstGeom prst="rect">
            <a:avLst/>
          </a:prstGeom>
          <a:ln w="12700">
            <a:miter lim="400000"/>
          </a:ln>
        </p:spPr>
        <p:txBody>
          <a:bodyPr wrap="none" lIns="177654" tIns="177654" rIns="177654" bIns="177654">
            <a:spAutoFit/>
          </a:bodyPr>
          <a:lstStyle>
            <a:lvl1pPr algn="r" defTabSz="3552825">
              <a:defRPr sz="54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1pPr>
      <a:lvl2pPr marL="0" marR="0" indent="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2pPr>
      <a:lvl3pPr marL="0" marR="0" indent="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3pPr>
      <a:lvl4pPr marL="0" marR="0" indent="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4pPr>
      <a:lvl5pPr marL="0" marR="0" indent="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5pPr>
      <a:lvl6pPr marL="0" marR="0" indent="45720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6pPr>
      <a:lvl7pPr marL="0" marR="0" indent="91440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7pPr>
      <a:lvl8pPr marL="0" marR="0" indent="137160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8pPr>
      <a:lvl9pPr marL="0" marR="0" indent="1828800" algn="ctr" defTabSz="3552825" rtl="0" latinLnBrk="0">
        <a:lnSpc>
          <a:spcPct val="100000"/>
        </a:lnSpc>
        <a:spcBef>
          <a:spcPts val="0"/>
        </a:spcBef>
        <a:spcAft>
          <a:spcPts val="0"/>
        </a:spcAft>
        <a:buClrTx/>
        <a:buSzTx/>
        <a:buFontTx/>
        <a:buNone/>
        <a:tabLst/>
        <a:defRPr b="0" baseline="0" cap="none" i="0" spc="0" strike="noStrike" sz="17100" u="none">
          <a:solidFill>
            <a:srgbClr val="000000"/>
          </a:solidFill>
          <a:uFillTx/>
          <a:latin typeface="+mj-lt"/>
          <a:ea typeface="+mj-ea"/>
          <a:cs typeface="+mj-cs"/>
          <a:sym typeface="Arial"/>
        </a:defRPr>
      </a:lvl9pPr>
    </p:titleStyle>
    <p:bodyStyle>
      <a:lvl1pPr marL="1331912" marR="0" indent="-1331912"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1pPr>
      <a:lvl2pPr marL="3040587" marR="0" indent="-1264174"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2pPr>
      <a:lvl3pPr marL="4738158" marR="0" indent="-1185333"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3pPr>
      <a:lvl4pPr marL="6742520" marR="0" indent="-1413282"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4pPr>
      <a:lvl5pPr marL="8518931" marR="0" indent="-1413281"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5pPr>
      <a:lvl6pPr marL="3860800" marR="0" indent="-1574800"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6pPr>
      <a:lvl7pPr marL="4318000" marR="0" indent="-1574800"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7pPr>
      <a:lvl8pPr marL="4775200" marR="0" indent="-1574800"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8pPr>
      <a:lvl9pPr marL="5232400" marR="0" indent="-1574800" algn="l" defTabSz="3552825" rtl="0" latinLnBrk="0">
        <a:lnSpc>
          <a:spcPct val="100000"/>
        </a:lnSpc>
        <a:spcBef>
          <a:spcPts val="2900"/>
        </a:spcBef>
        <a:spcAft>
          <a:spcPts val="0"/>
        </a:spcAft>
        <a:buClrTx/>
        <a:buSzPct val="100000"/>
        <a:buFontTx/>
        <a:buChar char="•"/>
        <a:tabLst/>
        <a:defRPr b="0" baseline="0" cap="none" i="0" spc="0" strike="noStrike" sz="12400" u="none">
          <a:solidFill>
            <a:srgbClr val="000000"/>
          </a:solidFill>
          <a:uFillTx/>
          <a:latin typeface="+mj-lt"/>
          <a:ea typeface="+mj-ea"/>
          <a:cs typeface="+mj-cs"/>
          <a:sym typeface="Arial"/>
        </a:defRPr>
      </a:lvl9pPr>
    </p:bodyStyle>
    <p:otherStyle>
      <a:lvl1pPr marL="0" marR="0" indent="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1pPr>
      <a:lvl2pPr marL="0" marR="0" indent="4572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2pPr>
      <a:lvl3pPr marL="0" marR="0" indent="9144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3pPr>
      <a:lvl4pPr marL="0" marR="0" indent="13716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4pPr>
      <a:lvl5pPr marL="0" marR="0" indent="18288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5pPr>
      <a:lvl6pPr marL="0" marR="0" indent="22860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6pPr>
      <a:lvl7pPr marL="0" marR="0" indent="27432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7pPr>
      <a:lvl8pPr marL="0" marR="0" indent="32004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8pPr>
      <a:lvl9pPr marL="0" marR="0" indent="3657600" algn="r" defTabSz="3552825" rtl="0" latinLnBrk="0">
        <a:lnSpc>
          <a:spcPct val="100000"/>
        </a:lnSpc>
        <a:spcBef>
          <a:spcPts val="0"/>
        </a:spcBef>
        <a:spcAft>
          <a:spcPts val="0"/>
        </a:spcAft>
        <a:buClrTx/>
        <a:buSzTx/>
        <a:buFontTx/>
        <a:buNone/>
        <a:tabLst/>
        <a:defRPr b="0" baseline="0" cap="none" i="0" spc="0" strike="noStrike" sz="54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4"/>
          <p:cNvSpPr txBox="1"/>
          <p:nvPr/>
        </p:nvSpPr>
        <p:spPr>
          <a:xfrm>
            <a:off x="711053" y="4603288"/>
            <a:ext cx="24181093" cy="3915129"/>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p>
            <a:pPr algn="ctr" defTabSz="3552825">
              <a:defRPr b="1" sz="4000">
                <a:latin typeface="Times New Roman"/>
                <a:ea typeface="Times New Roman"/>
                <a:cs typeface="Times New Roman"/>
                <a:sym typeface="Times New Roman"/>
              </a:defRPr>
            </a:pPr>
            <a:r>
              <a:t>Group 2: Max, Fadi, Ken, Habib</a:t>
            </a:r>
            <a:endParaRPr sz="17100"/>
          </a:p>
          <a:p>
            <a:pPr algn="ctr" defTabSz="3552825">
              <a:defRPr b="1" sz="4000">
                <a:latin typeface="Times New Roman"/>
                <a:ea typeface="Times New Roman"/>
                <a:cs typeface="Times New Roman"/>
                <a:sym typeface="Times New Roman"/>
              </a:defRPr>
            </a:pPr>
            <a:r>
              <a:t>CSI 2999: Sophomore Project</a:t>
            </a:r>
            <a:endParaRPr sz="17100"/>
          </a:p>
          <a:p>
            <a:pPr algn="ctr" defTabSz="3552825">
              <a:defRPr b="1" sz="4000">
                <a:latin typeface="Times New Roman"/>
                <a:ea typeface="Times New Roman"/>
                <a:cs typeface="Times New Roman"/>
                <a:sym typeface="Times New Roman"/>
              </a:defRPr>
            </a:pPr>
            <a:r>
              <a:t>Group Project – Fall 2025</a:t>
            </a:r>
            <a:endParaRPr sz="17100"/>
          </a:p>
          <a:p>
            <a:pPr algn="ctr" defTabSz="3552825">
              <a:defRPr b="1" sz="4000">
                <a:latin typeface="Times New Roman"/>
                <a:ea typeface="Times New Roman"/>
                <a:cs typeface="Times New Roman"/>
                <a:sym typeface="Times New Roman"/>
              </a:defRPr>
            </a:pPr>
            <a:r>
              <a:t>School of Engineering and Computer Science</a:t>
            </a:r>
            <a:endParaRPr sz="17100"/>
          </a:p>
          <a:p>
            <a:pPr algn="ctr" defTabSz="3552825">
              <a:defRPr b="1" sz="4000">
                <a:latin typeface="Times New Roman"/>
                <a:ea typeface="Times New Roman"/>
                <a:cs typeface="Times New Roman"/>
                <a:sym typeface="Times New Roman"/>
              </a:defRPr>
            </a:pPr>
            <a:r>
              <a:t>Oakland University</a:t>
            </a:r>
            <a:endParaRPr sz="17100"/>
          </a:p>
          <a:p>
            <a:pPr algn="ctr" defTabSz="3552825">
              <a:defRPr b="1" sz="4000">
                <a:latin typeface="Times New Roman"/>
                <a:ea typeface="Times New Roman"/>
                <a:cs typeface="Times New Roman"/>
                <a:sym typeface="Times New Roman"/>
              </a:defRPr>
            </a:pPr>
            <a:r>
              <a:t>Instructor: Dr. Hadeel M. Jawad </a:t>
            </a:r>
          </a:p>
        </p:txBody>
      </p:sp>
      <p:sp>
        <p:nvSpPr>
          <p:cNvPr id="95" name="Rectangle 8"/>
          <p:cNvSpPr txBox="1"/>
          <p:nvPr/>
        </p:nvSpPr>
        <p:spPr>
          <a:xfrm>
            <a:off x="6466066" y="1050928"/>
            <a:ext cx="12903493" cy="1908864"/>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lvl1pPr algn="ctr" defTabSz="3552825">
              <a:defRPr b="1" sz="11000">
                <a:latin typeface="Times New Roman"/>
                <a:ea typeface="Times New Roman"/>
                <a:cs typeface="Times New Roman"/>
                <a:sym typeface="Times New Roman"/>
              </a:defRPr>
            </a:lvl1pPr>
          </a:lstStyle>
          <a:p>
            <a:pPr/>
            <a:r>
              <a:t>Sportify</a:t>
            </a:r>
          </a:p>
        </p:txBody>
      </p:sp>
      <p:pic>
        <p:nvPicPr>
          <p:cNvPr id="96" name="Picture 1" descr="Picture 1"/>
          <p:cNvPicPr>
            <a:picLocks noChangeAspect="1"/>
          </p:cNvPicPr>
          <p:nvPr/>
        </p:nvPicPr>
        <p:blipFill>
          <a:blip r:embed="rId2">
            <a:extLst/>
          </a:blip>
          <a:stretch>
            <a:fillRect/>
          </a:stretch>
        </p:blipFill>
        <p:spPr>
          <a:xfrm>
            <a:off x="533400" y="370966"/>
            <a:ext cx="6248400" cy="3743835"/>
          </a:xfrm>
          <a:prstGeom prst="rect">
            <a:avLst/>
          </a:prstGeom>
          <a:ln w="12700">
            <a:miter lim="400000"/>
          </a:ln>
        </p:spPr>
      </p:pic>
      <p:sp>
        <p:nvSpPr>
          <p:cNvPr id="97" name="Straight Connector 3"/>
          <p:cNvSpPr/>
          <p:nvPr/>
        </p:nvSpPr>
        <p:spPr>
          <a:xfrm>
            <a:off x="0" y="4419600"/>
            <a:ext cx="25603200" cy="0"/>
          </a:xfrm>
          <a:prstGeom prst="line">
            <a:avLst/>
          </a:prstGeom>
          <a:solidFill>
            <a:schemeClr val="accent1"/>
          </a:solidFill>
          <a:ln w="254000">
            <a:solidFill>
              <a:srgbClr val="B08F37"/>
            </a:solidFill>
          </a:ln>
        </p:spPr>
        <p:txBody>
          <a:bodyPr lIns="45719" rIns="45719"/>
          <a:lstStyle/>
          <a:p>
            <a:pPr/>
          </a:p>
        </p:txBody>
      </p:sp>
      <p:sp>
        <p:nvSpPr>
          <p:cNvPr id="98" name="Rectangle 8"/>
          <p:cNvSpPr txBox="1"/>
          <p:nvPr/>
        </p:nvSpPr>
        <p:spPr>
          <a:xfrm>
            <a:off x="1079786" y="9009982"/>
            <a:ext cx="19422533" cy="1467849"/>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lvl1pPr defTabSz="3552825">
              <a:defRPr b="1" sz="8000" u="sng">
                <a:latin typeface="Times New Roman"/>
                <a:ea typeface="Times New Roman"/>
                <a:cs typeface="Times New Roman"/>
                <a:sym typeface="Times New Roman"/>
              </a:defRPr>
            </a:lvl1pPr>
          </a:lstStyle>
          <a:p>
            <a:pPr/>
            <a:r>
              <a:t>Project description </a:t>
            </a:r>
          </a:p>
        </p:txBody>
      </p:sp>
      <p:sp>
        <p:nvSpPr>
          <p:cNvPr id="99" name="TextBox 4"/>
          <p:cNvSpPr txBox="1"/>
          <p:nvPr/>
        </p:nvSpPr>
        <p:spPr>
          <a:xfrm>
            <a:off x="1134063" y="10030870"/>
            <a:ext cx="23649996" cy="74188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4800">
                <a:latin typeface="Times New Roman"/>
                <a:ea typeface="Times New Roman"/>
                <a:cs typeface="Times New Roman"/>
                <a:sym typeface="Times New Roman"/>
              </a:defRPr>
            </a:pPr>
          </a:p>
          <a:p>
            <a:pPr defTabSz="457200">
              <a:defRPr sz="6000"/>
            </a:pPr>
            <a:r>
              <a:t>Sportsify is a web application that enables users to capture video of their sports performance, receive automated technical analysis using AI models, and get personalized drills and progress tracking. The system supports any sport that can be evaluated visually (shooting form, swing mechanics, footwork, etc.) and focuses on practical, easy-to-follow corrective suggestions to accelerate skill improvement.</a:t>
            </a:r>
            <a:endParaRPr>
              <a:latin typeface="Times Roman"/>
              <a:ea typeface="Times Roman"/>
              <a:cs typeface="Times Roman"/>
              <a:sym typeface="Times Roman"/>
            </a:endParaRPr>
          </a:p>
          <a:p>
            <a:pPr defTabSz="457200">
              <a:defRPr sz="2000"/>
            </a:pPr>
            <a:endParaRPr sz="4800">
              <a:latin typeface="Times New Roman"/>
              <a:ea typeface="Times New Roman"/>
              <a:cs typeface="Times New Roman"/>
              <a:sym typeface="Times New Roman"/>
            </a:endParaRPr>
          </a:p>
        </p:txBody>
      </p:sp>
      <p:grpSp>
        <p:nvGrpSpPr>
          <p:cNvPr id="102" name="Rectangle 5"/>
          <p:cNvGrpSpPr/>
          <p:nvPr/>
        </p:nvGrpSpPr>
        <p:grpSpPr>
          <a:xfrm>
            <a:off x="20726400" y="337882"/>
            <a:ext cx="4343400" cy="3700719"/>
            <a:chOff x="0" y="0"/>
            <a:chExt cx="4343400" cy="3700717"/>
          </a:xfrm>
        </p:grpSpPr>
        <p:sp>
          <p:nvSpPr>
            <p:cNvPr id="100" name="Rectangle"/>
            <p:cNvSpPr/>
            <p:nvPr/>
          </p:nvSpPr>
          <p:spPr>
            <a:xfrm>
              <a:off x="0" y="-1"/>
              <a:ext cx="4343400" cy="3700719"/>
            </a:xfrm>
            <a:prstGeom prst="rect">
              <a:avLst/>
            </a:prstGeom>
            <a:solidFill>
              <a:schemeClr val="accent1"/>
            </a:solidFill>
            <a:ln w="9525" cap="flat">
              <a:solidFill>
                <a:srgbClr val="000000"/>
              </a:solidFill>
              <a:prstDash val="solid"/>
              <a:round/>
            </a:ln>
            <a:effectLst/>
          </p:spPr>
          <p:txBody>
            <a:bodyPr wrap="square" lIns="45719" tIns="45719" rIns="45719" bIns="45719" numCol="1" anchor="t">
              <a:noAutofit/>
            </a:bodyPr>
            <a:lstStyle/>
            <a:p>
              <a:pPr defTabSz="3552825"/>
            </a:p>
          </p:txBody>
        </p:sp>
        <p:sp>
          <p:nvSpPr>
            <p:cNvPr id="101" name="Image…"/>
            <p:cNvSpPr txBox="1"/>
            <p:nvPr/>
          </p:nvSpPr>
          <p:spPr>
            <a:xfrm>
              <a:off x="50482" y="4762"/>
              <a:ext cx="4242436" cy="20943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defTabSz="3552825"/>
              <a:r>
                <a:t>   Image</a:t>
              </a:r>
            </a:p>
            <a:p>
              <a:pPr defTabSz="3552825"/>
              <a:r>
                <a:t> App Logo</a:t>
              </a:r>
            </a:p>
          </p:txBody>
        </p:sp>
      </p:grpSp>
      <p:sp>
        <p:nvSpPr>
          <p:cNvPr id="103" name="Rectangle 26"/>
          <p:cNvSpPr txBox="1"/>
          <p:nvPr/>
        </p:nvSpPr>
        <p:spPr>
          <a:xfrm>
            <a:off x="1079787" y="28884981"/>
            <a:ext cx="10145098" cy="3907954"/>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lvl1pPr defTabSz="3552825">
              <a:defRPr b="1" sz="8000" u="sng">
                <a:latin typeface="Times New Roman"/>
                <a:ea typeface="Times New Roman"/>
                <a:cs typeface="Times New Roman"/>
                <a:sym typeface="Times New Roman"/>
              </a:defRPr>
            </a:lvl1pPr>
          </a:lstStyle>
          <a:p>
            <a:pPr/>
            <a:r>
              <a:t>Features</a:t>
            </a:r>
            <a:endParaRPr sz="17100"/>
          </a:p>
        </p:txBody>
      </p:sp>
      <p:sp>
        <p:nvSpPr>
          <p:cNvPr id="104" name="TextBox 27"/>
          <p:cNvSpPr txBox="1"/>
          <p:nvPr/>
        </p:nvSpPr>
        <p:spPr>
          <a:xfrm>
            <a:off x="1052159" y="30294203"/>
            <a:ext cx="10918692" cy="5574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5400">
                <a:latin typeface="Times New Roman"/>
                <a:ea typeface="Times New Roman"/>
                <a:cs typeface="Times New Roman"/>
                <a:sym typeface="Times New Roman"/>
              </a:defRPr>
            </a:lvl1pPr>
          </a:lstStyle>
          <a:p>
            <a:pPr/>
            <a:r>
              <a:t>Camera Access button ,Upload Button, Login/Sign Up,User Timeline, Last practice video,SnapShot Display Buttons,Profile Menu, Circle Percentage Chart, Download/Share Button, Position Toggle, Practice/drill difficulty</a:t>
            </a:r>
          </a:p>
        </p:txBody>
      </p:sp>
      <p:sp>
        <p:nvSpPr>
          <p:cNvPr id="105" name="TextBox 24"/>
          <p:cNvSpPr txBox="1"/>
          <p:nvPr/>
        </p:nvSpPr>
        <p:spPr>
          <a:xfrm>
            <a:off x="11935997" y="30839224"/>
            <a:ext cx="12903493" cy="44840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5000">
                <a:latin typeface="Times New Roman"/>
                <a:ea typeface="Times New Roman"/>
                <a:cs typeface="Times New Roman"/>
                <a:sym typeface="Times New Roman"/>
              </a:defRPr>
            </a:pPr>
            <a:r>
              <a:t> Paid version that is a subscription with advanced tools and more detailed reports.</a:t>
            </a:r>
          </a:p>
          <a:p>
            <a:pPr>
              <a:defRPr sz="5000">
                <a:latin typeface="Times New Roman"/>
                <a:ea typeface="Times New Roman"/>
                <a:cs typeface="Times New Roman"/>
                <a:sym typeface="Times New Roman"/>
              </a:defRPr>
            </a:pPr>
            <a:r>
              <a:t>Team plans that allow coaches to manage their teams performance. </a:t>
            </a:r>
          </a:p>
          <a:p>
            <a:pPr>
              <a:defRPr sz="5000">
                <a:latin typeface="Times New Roman"/>
                <a:ea typeface="Times New Roman"/>
                <a:cs typeface="Times New Roman"/>
                <a:sym typeface="Times New Roman"/>
              </a:defRPr>
            </a:pPr>
            <a:r>
              <a:t>One time purchases: detailed report, special video analyses and etc.</a:t>
            </a:r>
          </a:p>
        </p:txBody>
      </p:sp>
      <p:sp>
        <p:nvSpPr>
          <p:cNvPr id="106" name="Rectangle 7"/>
          <p:cNvSpPr txBox="1"/>
          <p:nvPr/>
        </p:nvSpPr>
        <p:spPr>
          <a:xfrm>
            <a:off x="904054" y="15981866"/>
            <a:ext cx="21470011" cy="1467849"/>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p>
            <a:pPr defTabSz="3552825">
              <a:defRPr b="1" sz="8000" u="sng">
                <a:latin typeface="Times New Roman"/>
                <a:ea typeface="Times New Roman"/>
                <a:cs typeface="Times New Roman"/>
                <a:sym typeface="Times New Roman"/>
              </a:defRPr>
            </a:pPr>
            <a:r>
              <a:t>Application Genre/Category</a:t>
            </a:r>
            <a:r>
              <a:rPr u="none"/>
              <a:t>: </a:t>
            </a:r>
            <a:r>
              <a:rPr b="0" u="none"/>
              <a:t>Lifestyle, Coaching </a:t>
            </a:r>
          </a:p>
        </p:txBody>
      </p:sp>
      <p:sp>
        <p:nvSpPr>
          <p:cNvPr id="107" name="Rectangle 9"/>
          <p:cNvSpPr txBox="1"/>
          <p:nvPr/>
        </p:nvSpPr>
        <p:spPr>
          <a:xfrm>
            <a:off x="17137868" y="18962169"/>
            <a:ext cx="23402380" cy="26954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sz="6000"/>
            </a:pPr>
            <a:r>
              <a:t>Athletes</a:t>
            </a:r>
          </a:p>
          <a:p>
            <a:pPr defTabSz="457200">
              <a:defRPr sz="6000"/>
            </a:pPr>
            <a:r>
              <a:t>Coaches </a:t>
            </a:r>
          </a:p>
          <a:p>
            <a:pPr defTabSz="457200">
              <a:defRPr sz="6000"/>
            </a:pPr>
            <a:r>
              <a:t>Sports and fitness fans</a:t>
            </a:r>
          </a:p>
        </p:txBody>
      </p:sp>
      <p:sp>
        <p:nvSpPr>
          <p:cNvPr id="108" name="Rectangle 10"/>
          <p:cNvSpPr txBox="1"/>
          <p:nvPr/>
        </p:nvSpPr>
        <p:spPr>
          <a:xfrm>
            <a:off x="16689209" y="17160836"/>
            <a:ext cx="21470011" cy="1467849"/>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lvl1pPr defTabSz="3552825">
              <a:defRPr b="1" sz="8000" u="sng">
                <a:latin typeface="Times New Roman"/>
                <a:ea typeface="Times New Roman"/>
                <a:cs typeface="Times New Roman"/>
                <a:sym typeface="Times New Roman"/>
              </a:defRPr>
            </a:lvl1pPr>
          </a:lstStyle>
          <a:p>
            <a:pPr/>
            <a:r>
              <a:t>Targeted Audience      </a:t>
            </a:r>
          </a:p>
        </p:txBody>
      </p:sp>
      <p:sp>
        <p:nvSpPr>
          <p:cNvPr id="109" name="Rectangle 11"/>
          <p:cNvSpPr txBox="1"/>
          <p:nvPr/>
        </p:nvSpPr>
        <p:spPr>
          <a:xfrm>
            <a:off x="12163094" y="29195669"/>
            <a:ext cx="21470012" cy="1467849"/>
          </a:xfrm>
          <a:prstGeom prst="rect">
            <a:avLst/>
          </a:prstGeom>
          <a:ln w="12700">
            <a:miter lim="400000"/>
          </a:ln>
          <a:extLst>
            <a:ext uri="{C572A759-6A51-4108-AA02-DFA0A04FC94B}">
              <ma14:wrappingTextBoxFlag xmlns:ma14="http://schemas.microsoft.com/office/mac/drawingml/2011/main" val="1"/>
            </a:ext>
          </a:extLst>
        </p:spPr>
        <p:txBody>
          <a:bodyPr lIns="177654" tIns="177654" rIns="177654" bIns="177654" anchor="ctr">
            <a:spAutoFit/>
          </a:bodyPr>
          <a:lstStyle>
            <a:lvl1pPr defTabSz="3552825">
              <a:defRPr b="1" sz="8000" u="sng">
                <a:latin typeface="Times New Roman"/>
                <a:ea typeface="Times New Roman"/>
                <a:cs typeface="Times New Roman"/>
                <a:sym typeface="Times New Roman"/>
              </a:defRPr>
            </a:lvl1pPr>
          </a:lstStyle>
          <a:p>
            <a:pPr/>
            <a:r>
              <a:t>Source of Revenue </a:t>
            </a:r>
          </a:p>
        </p:txBody>
      </p:sp>
      <p:pic>
        <p:nvPicPr>
          <p:cNvPr id="110" name="unknown.png" descr="unknown.png"/>
          <p:cNvPicPr>
            <a:picLocks noChangeAspect="1"/>
          </p:cNvPicPr>
          <p:nvPr/>
        </p:nvPicPr>
        <p:blipFill>
          <a:blip r:embed="rId3">
            <a:extLst/>
          </a:blip>
          <a:stretch>
            <a:fillRect/>
          </a:stretch>
        </p:blipFill>
        <p:spPr>
          <a:xfrm>
            <a:off x="20667547" y="-225193"/>
            <a:ext cx="4461105" cy="4461105"/>
          </a:xfrm>
          <a:prstGeom prst="rect">
            <a:avLst/>
          </a:prstGeom>
          <a:ln w="12700">
            <a:miter lim="400000"/>
          </a:ln>
        </p:spPr>
      </p:pic>
      <p:pic>
        <p:nvPicPr>
          <p:cNvPr id="111" name="unknown.png" descr="unknown.png"/>
          <p:cNvPicPr>
            <a:picLocks noChangeAspect="1"/>
          </p:cNvPicPr>
          <p:nvPr/>
        </p:nvPicPr>
        <p:blipFill>
          <a:blip r:embed="rId4">
            <a:extLst/>
          </a:blip>
          <a:stretch>
            <a:fillRect/>
          </a:stretch>
        </p:blipFill>
        <p:spPr>
          <a:xfrm>
            <a:off x="1136650" y="17452616"/>
            <a:ext cx="5041900" cy="9994901"/>
          </a:xfrm>
          <a:prstGeom prst="rect">
            <a:avLst/>
          </a:prstGeom>
          <a:ln w="12700">
            <a:miter lim="400000"/>
          </a:ln>
        </p:spPr>
      </p:pic>
      <p:sp>
        <p:nvSpPr>
          <p:cNvPr id="112" name="Rectangle 11"/>
          <p:cNvSpPr/>
          <p:nvPr/>
        </p:nvSpPr>
        <p:spPr>
          <a:xfrm>
            <a:off x="690860" y="8695101"/>
            <a:ext cx="24536401" cy="27509931"/>
          </a:xfrm>
          <a:prstGeom prst="rect">
            <a:avLst/>
          </a:prstGeom>
          <a:ln w="76200">
            <a:solidFill>
              <a:srgbClr val="B08F37"/>
            </a:solidFill>
            <a:miter/>
          </a:ln>
        </p:spPr>
        <p:txBody>
          <a:bodyPr lIns="45719" rIns="45719" anchor="ctr"/>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70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